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895EF"/>
          </a:solidFill>
          <a:ln w="12700">
            <a:solidFill>
              <a:srgbClr val="4895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489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Analysis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242316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8F5"/>
                </a:solidFill>
              </a:rPr>
              <a:t>End-to-end data analyst portfolio project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3291840"/>
            <a:ext cx="1371600" cy="292608"/>
          </a:xfrm>
          <a:prstGeom prst="roundRect">
            <a:avLst>
              <a:gd name="adj" fmla="val 25000"/>
            </a:avLst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29184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Python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920240" y="3291840"/>
            <a:ext cx="1371600" cy="292608"/>
          </a:xfrm>
          <a:prstGeom prst="roundRect">
            <a:avLst>
              <a:gd name="adj" fmla="val 25000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0240" y="329184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SQL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83280" y="3291840"/>
            <a:ext cx="1371600" cy="292608"/>
          </a:xfrm>
          <a:prstGeom prst="roundRect">
            <a:avLst>
              <a:gd name="adj" fmla="val 25000"/>
            </a:avLst>
          </a:prstGeom>
          <a:solidFill>
            <a:srgbClr val="A67C00"/>
          </a:solidFill>
          <a:ln w="12700">
            <a:solidFill>
              <a:srgbClr val="A67C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329184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Power BI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4069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Shinoy Babru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437083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8F5"/>
                </a:solidFill>
              </a:rPr>
              <a:t>linkedin.com/in/shinoy-babru-2000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0" y="914400"/>
            <a:ext cx="2926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0" b="1" dirty="0">
                <a:solidFill>
                  <a:srgbClr val="12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1K</a:t>
            </a:r>
            <a:endParaRPr lang="en-US" sz="13000" dirty="0"/>
          </a:p>
        </p:txBody>
      </p:sp>
      <p:sp>
        <p:nvSpPr>
          <p:cNvPr id="16" name="Text 14"/>
          <p:cNvSpPr/>
          <p:nvPr/>
        </p:nvSpPr>
        <p:spPr>
          <a:xfrm>
            <a:off x="5943600" y="26517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600" kern="0" dirty="0">
                <a:solidFill>
                  <a:srgbClr val="C9D8F5"/>
                </a:solidFill>
              </a:rPr>
              <a:t>ORDERS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43600" y="30175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400" kern="0" dirty="0">
                <a:solidFill>
                  <a:srgbClr val="2B4A8A"/>
                </a:solidFill>
              </a:rPr>
              <a:t>2023 FULL YEAR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393192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94360" y="1097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What is this project?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14630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A complete data analysis pipeline built to demonstrate real analyst skills — from raw data to actionable business insights.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94360" y="2240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Why was it built?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260604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To showcase end-to-end data analyst skills: data wrangling, SQL querying, Python analysis, and interactive dashboarding — all in one portfolio project.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34290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3E"/>
                </a:solidFill>
              </a:rPr>
              <a:t>Dataset: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691640" y="34290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1,000 synthetic e-commerce orders across 5 categories and 10 Indian cities — full year 2023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0" y="9601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Tools used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1417320"/>
            <a:ext cx="3886200" cy="685800"/>
          </a:xfrm>
          <a:prstGeom prst="rect">
            <a:avLst/>
          </a:prstGeom>
          <a:solidFill>
            <a:srgbClr val="EBF5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1417320"/>
            <a:ext cx="64008" cy="6858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47218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6DB"/>
                </a:solidFill>
              </a:rPr>
              <a:t>Python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174650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Pandas · Matplotlib · Seaborn · NumPy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54880" y="2221992"/>
            <a:ext cx="3886200" cy="685800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0" y="2221992"/>
            <a:ext cx="64008" cy="6858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227685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</a:rPr>
              <a:t>SQL (SQLite)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255117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3 tables · 12 business queries · Indexes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54880" y="3026664"/>
            <a:ext cx="3886200" cy="685800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3026664"/>
            <a:ext cx="64008" cy="6858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308152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</a:rPr>
              <a:t>Power BI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37760" y="335584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DAX measures · 3 pages · 4 slicers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54880" y="3831336"/>
            <a:ext cx="3886200" cy="685800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0" y="3831336"/>
            <a:ext cx="64008" cy="685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38862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</a:rPr>
              <a:t>Jupyter Notebook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37760" y="41605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Full walkthrough · Inline charts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Shinoy Babru  ·  E-Commerce Sales Analysis  ·  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Pipeline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D8F5"/>
                </a:solidFill>
              </a:rPr>
              <a:t>Five stages — from raw data to business insight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508760" cy="3200400"/>
          </a:xfrm>
          <a:prstGeom prst="rect">
            <a:avLst/>
          </a:prstGeom>
          <a:solidFill>
            <a:srgbClr val="122456"/>
          </a:solidFill>
          <a:ln w="12700">
            <a:solidFill>
              <a:srgbClr val="4895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1508760" cy="64008"/>
          </a:xfrm>
          <a:prstGeom prst="rect">
            <a:avLst/>
          </a:prstGeom>
          <a:solidFill>
            <a:srgbClr val="4895EF"/>
          </a:solidFill>
          <a:ln w="12700">
            <a:solidFill>
              <a:srgbClr val="489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2588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895EF"/>
                </a:solidFill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178308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Generate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212848"/>
            <a:ext cx="1325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9D8F5"/>
                </a:solidFill>
              </a:rPr>
              <a:t>Python creates 1,000 realistic orders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965960" y="2743200"/>
            <a:ext cx="155448" cy="0"/>
          </a:xfrm>
          <a:prstGeom prst="line">
            <a:avLst/>
          </a:prstGeom>
          <a:noFill/>
          <a:ln w="19050">
            <a:solidFill>
              <a:srgbClr val="4895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21408" y="1188720"/>
            <a:ext cx="1508760" cy="3200400"/>
          </a:xfrm>
          <a:prstGeom prst="rect">
            <a:avLst/>
          </a:prstGeom>
          <a:solidFill>
            <a:srgbClr val="122456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21408" y="1188720"/>
            <a:ext cx="150876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21408" y="132588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121408" y="178308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Clean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212848" y="2212848"/>
            <a:ext cx="1325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9D8F5"/>
                </a:solidFill>
              </a:rPr>
              <a:t>Pandas fixes types, adds new columns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30168" y="2743200"/>
            <a:ext cx="155448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85616" y="1188720"/>
            <a:ext cx="1508760" cy="3200400"/>
          </a:xfrm>
          <a:prstGeom prst="rect">
            <a:avLst/>
          </a:prstGeom>
          <a:solidFill>
            <a:srgbClr val="122456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85616" y="1188720"/>
            <a:ext cx="150876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85616" y="132588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</a:rPr>
              <a:t>03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785616" y="178308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SQL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877056" y="2212848"/>
            <a:ext cx="1325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9D8F5"/>
                </a:solidFill>
              </a:rPr>
              <a:t>SQLite runs 12 business queries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294376" y="2743200"/>
            <a:ext cx="155448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49824" y="1188720"/>
            <a:ext cx="1508760" cy="3200400"/>
          </a:xfrm>
          <a:prstGeom prst="rect">
            <a:avLst/>
          </a:prstGeom>
          <a:solidFill>
            <a:srgbClr val="122456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49824" y="1188720"/>
            <a:ext cx="1508760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49824" y="132588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78BFA"/>
                </a:solidFill>
              </a:rPr>
              <a:t>04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449824" y="178308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Analyse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541264" y="2212848"/>
            <a:ext cx="1325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9D8F5"/>
                </a:solidFill>
              </a:rPr>
              <a:t>Matplotlib exports 8 insight charts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958584" y="2743200"/>
            <a:ext cx="155448" cy="0"/>
          </a:xfrm>
          <a:prstGeom prst="line">
            <a:avLst/>
          </a:prstGeom>
          <a:noFill/>
          <a:ln w="19050">
            <a:solidFill>
              <a:srgbClr val="A78BF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114032" y="1188720"/>
            <a:ext cx="1508760" cy="3200400"/>
          </a:xfrm>
          <a:prstGeom prst="rect">
            <a:avLst/>
          </a:prstGeom>
          <a:solidFill>
            <a:srgbClr val="12245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14032" y="1188720"/>
            <a:ext cx="1508760" cy="64008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14032" y="132588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72B6"/>
                </a:solidFill>
              </a:rPr>
              <a:t>05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114032" y="178308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Dashboard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205472" y="2212848"/>
            <a:ext cx="1325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9D8F5"/>
                </a:solidFill>
              </a:rPr>
              <a:t>Power BI presents the full story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57200" y="4526280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2B4A8A"/>
                </a:solidFill>
              </a:rPr>
              <a:t>generate_data.py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2121408" y="4526280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2B4A8A"/>
                </a:solidFill>
              </a:rPr>
              <a:t>data_cleaning.py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3785616" y="4526280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2B4A8A"/>
                </a:solidFill>
              </a:rPr>
              <a:t>load_to_sqlite.py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5449824" y="4526280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2B4A8A"/>
                </a:solidFill>
              </a:rPr>
              <a:t>analysis.py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7114032" y="4526280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2B4A8A"/>
                </a:solidFill>
              </a:rPr>
              <a:t>dashboard.pbix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Generation &amp; Cleaning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406640" y="320040"/>
            <a:ext cx="1371600" cy="292608"/>
          </a:xfrm>
          <a:prstGeom prst="roundRect">
            <a:avLst>
              <a:gd name="adj" fmla="val 25000"/>
            </a:avLst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06640" y="32004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Python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402336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0515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895EF"/>
                </a:solidFill>
              </a:rPr>
              <a:t>generate_data.py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4630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3E"/>
                </a:solidFill>
              </a:rPr>
              <a:t>What it creates: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175564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1,000 realistic orders — full year 2023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215798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5 product categories (Electronics, Clothing, Home &amp; Kitchen, Books, Sports)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2560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10 Indian cities with state mapping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296265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5 payment methods, 5 order statuses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33649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Randomised quantities, discounts and shipping dates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914400"/>
            <a:ext cx="402336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00600" y="10515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data_cleaning.py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00600" y="14630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3E"/>
                </a:solidFill>
              </a:rPr>
              <a:t>What it does: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00600" y="175564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Parses order_date &amp; ship_date to datetime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00600" y="215798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Removes duplicates and null critical values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00600" y="2560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Validates: quantity &gt; 0, price &gt; 0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00600" y="296265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Adds: month, quarter, day_of_week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00600" y="33649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Calculates: shipping_days per order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00600" y="37673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Output → cleaned_data.csv  (ready to analyse)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Shinoy Babru  ·  E-Commerce Sales Analysis  ·  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80960" y="320040"/>
            <a:ext cx="1371600" cy="292608"/>
          </a:xfrm>
          <a:prstGeom prst="roundRect">
            <a:avLst>
              <a:gd name="adj" fmla="val 25000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80960" y="32004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SQL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2377440" cy="34747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orders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61872"/>
            <a:ext cx="2377440" cy="274320"/>
          </a:xfrm>
          <a:prstGeom prst="rect">
            <a:avLst/>
          </a:prstGeom>
          <a:solidFill>
            <a:srgbClr val="F0FDFA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26187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E7C7B"/>
                </a:solidFill>
              </a:rPr>
              <a:t>order_id PK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7200" y="1536192"/>
            <a:ext cx="237744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53619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97706"/>
                </a:solidFill>
              </a:rPr>
              <a:t>customer_id FK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57200" y="1810512"/>
            <a:ext cx="2377440" cy="274320"/>
          </a:xfrm>
          <a:prstGeom prst="rect">
            <a:avLst/>
          </a:prstGeom>
          <a:solidFill>
            <a:srgbClr val="F0FDFA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81051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97706"/>
                </a:solidFill>
              </a:rPr>
              <a:t>product_id FK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7200" y="2084832"/>
            <a:ext cx="237744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08483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quantity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2359152"/>
            <a:ext cx="2377440" cy="274320"/>
          </a:xfrm>
          <a:prstGeom prst="rect">
            <a:avLst/>
          </a:prstGeom>
          <a:solidFill>
            <a:srgbClr val="F0FDFA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35915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total_price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57200" y="2633472"/>
            <a:ext cx="237744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63347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status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2907792"/>
            <a:ext cx="2377440" cy="274320"/>
          </a:xfrm>
          <a:prstGeom prst="rect">
            <a:avLst/>
          </a:prstGeom>
          <a:solidFill>
            <a:srgbClr val="F0FDFA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290779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order_date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108960" y="914400"/>
            <a:ext cx="2377440" cy="34747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08960" y="9144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customers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108960" y="1261872"/>
            <a:ext cx="2377440" cy="274320"/>
          </a:xfrm>
          <a:prstGeom prst="rect">
            <a:avLst/>
          </a:prstGeom>
          <a:solidFill>
            <a:srgbClr val="F0FDFA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0" y="126187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E7C7B"/>
                </a:solidFill>
              </a:rPr>
              <a:t>customer_id PK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108960" y="1536192"/>
            <a:ext cx="237744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0" y="153619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customer_name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108960" y="1810512"/>
            <a:ext cx="2377440" cy="274320"/>
          </a:xfrm>
          <a:prstGeom prst="rect">
            <a:avLst/>
          </a:prstGeom>
          <a:solidFill>
            <a:srgbClr val="F0FDFA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0" y="181051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email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108960" y="2084832"/>
            <a:ext cx="237744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0" y="208483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city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108960" y="2359152"/>
            <a:ext cx="2377440" cy="274320"/>
          </a:xfrm>
          <a:prstGeom prst="rect">
            <a:avLst/>
          </a:prstGeom>
          <a:solidFill>
            <a:srgbClr val="F0FDFA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0" y="235915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state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760720" y="914400"/>
            <a:ext cx="2377440" cy="34747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60720" y="9144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products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760720" y="1261872"/>
            <a:ext cx="2377440" cy="274320"/>
          </a:xfrm>
          <a:prstGeom prst="rect">
            <a:avLst/>
          </a:prstGeom>
          <a:solidFill>
            <a:srgbClr val="F0FDFA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52160" y="126187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E7C7B"/>
                </a:solidFill>
              </a:rPr>
              <a:t>product_id PK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760720" y="1536192"/>
            <a:ext cx="237744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52160" y="153619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product_name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760720" y="1810512"/>
            <a:ext cx="2377440" cy="274320"/>
          </a:xfrm>
          <a:prstGeom prst="rect">
            <a:avLst/>
          </a:prstGeom>
          <a:solidFill>
            <a:srgbClr val="F0FDFA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52160" y="181051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category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760720" y="2084832"/>
            <a:ext cx="237744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852160" y="208483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unit_price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834640" y="2011680"/>
            <a:ext cx="27432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486400" y="2011680"/>
            <a:ext cx="27432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3246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12 business intelligence queries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57200" y="3584448"/>
            <a:ext cx="1993392" cy="329184"/>
          </a:xfrm>
          <a:prstGeom prst="rect">
            <a:avLst/>
          </a:prstGeom>
          <a:solidFill>
            <a:srgbClr val="F0FDFA"/>
          </a:solidFill>
          <a:ln w="6350">
            <a:solidFill>
              <a:srgbClr val="0E7C7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30352" y="3584448"/>
            <a:ext cx="1874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E7C7B"/>
                </a:solidFill>
              </a:rPr>
              <a:t>1. KPI Summary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2542032" y="3584448"/>
            <a:ext cx="1993392" cy="329184"/>
          </a:xfrm>
          <a:prstGeom prst="rect">
            <a:avLst/>
          </a:prstGeom>
          <a:solidFill>
            <a:srgbClr val="F0FDFA"/>
          </a:solidFill>
          <a:ln w="6350">
            <a:solidFill>
              <a:srgbClr val="0E7C7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615184" y="3584448"/>
            <a:ext cx="1874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E7C7B"/>
                </a:solidFill>
              </a:rPr>
              <a:t>2. Monthly Trend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626864" y="3584448"/>
            <a:ext cx="1993392" cy="329184"/>
          </a:xfrm>
          <a:prstGeom prst="rect">
            <a:avLst/>
          </a:prstGeom>
          <a:solidFill>
            <a:srgbClr val="F0FDFA"/>
          </a:solidFill>
          <a:ln w="6350">
            <a:solidFill>
              <a:srgbClr val="0E7C7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00016" y="3584448"/>
            <a:ext cx="1874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E7C7B"/>
                </a:solidFill>
              </a:rPr>
              <a:t>3. Category Revenue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6711696" y="3584448"/>
            <a:ext cx="1993392" cy="329184"/>
          </a:xfrm>
          <a:prstGeom prst="rect">
            <a:avLst/>
          </a:prstGeom>
          <a:solidFill>
            <a:srgbClr val="F0FDFA"/>
          </a:solidFill>
          <a:ln w="6350">
            <a:solidFill>
              <a:srgbClr val="0E7C7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784848" y="3584448"/>
            <a:ext cx="1874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E7C7B"/>
                </a:solidFill>
              </a:rPr>
              <a:t>4. Top 10 Products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57200" y="3968496"/>
            <a:ext cx="1993392" cy="329184"/>
          </a:xfrm>
          <a:prstGeom prst="rect">
            <a:avLst/>
          </a:prstGeom>
          <a:solidFill>
            <a:srgbClr val="F0FDFA"/>
          </a:solidFill>
          <a:ln w="6350">
            <a:solidFill>
              <a:srgbClr val="0E7C7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30352" y="3968496"/>
            <a:ext cx="1874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E7C7B"/>
                </a:solidFill>
              </a:rPr>
              <a:t>5. Revenue by State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2542032" y="3968496"/>
            <a:ext cx="1993392" cy="329184"/>
          </a:xfrm>
          <a:prstGeom prst="rect">
            <a:avLst/>
          </a:prstGeom>
          <a:solidFill>
            <a:srgbClr val="F0FDFA"/>
          </a:solidFill>
          <a:ln w="6350">
            <a:solidFill>
              <a:srgbClr val="0E7C7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615184" y="3968496"/>
            <a:ext cx="1874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E7C7B"/>
                </a:solidFill>
              </a:rPr>
              <a:t>6. Order Status %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4626864" y="3968496"/>
            <a:ext cx="1993392" cy="329184"/>
          </a:xfrm>
          <a:prstGeom prst="rect">
            <a:avLst/>
          </a:prstGeom>
          <a:solidFill>
            <a:srgbClr val="F0FDFA"/>
          </a:solidFill>
          <a:ln w="6350">
            <a:solidFill>
              <a:srgbClr val="0E7C7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00016" y="3968496"/>
            <a:ext cx="1874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E7C7B"/>
                </a:solidFill>
              </a:rPr>
              <a:t>7. Payment Methods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6711696" y="3968496"/>
            <a:ext cx="1993392" cy="329184"/>
          </a:xfrm>
          <a:prstGeom prst="rect">
            <a:avLst/>
          </a:prstGeom>
          <a:solidFill>
            <a:srgbClr val="F0FDFA"/>
          </a:solidFill>
          <a:ln w="6350">
            <a:solidFill>
              <a:srgbClr val="0E7C7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784848" y="3968496"/>
            <a:ext cx="1874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E7C7B"/>
                </a:solidFill>
              </a:rPr>
              <a:t>8. Customer LTV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457200" y="4352544"/>
            <a:ext cx="1993392" cy="329184"/>
          </a:xfrm>
          <a:prstGeom prst="rect">
            <a:avLst/>
          </a:prstGeom>
          <a:solidFill>
            <a:srgbClr val="F0FDFA"/>
          </a:solidFill>
          <a:ln w="6350">
            <a:solidFill>
              <a:srgbClr val="0E7C7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30352" y="4352544"/>
            <a:ext cx="1874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E7C7B"/>
                </a:solidFill>
              </a:rPr>
              <a:t>9. Shipping Speed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2542032" y="4352544"/>
            <a:ext cx="1993392" cy="329184"/>
          </a:xfrm>
          <a:prstGeom prst="rect">
            <a:avLst/>
          </a:prstGeom>
          <a:solidFill>
            <a:srgbClr val="F0FDFA"/>
          </a:solidFill>
          <a:ln w="6350">
            <a:solidFill>
              <a:srgbClr val="0E7C7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615184" y="4352544"/>
            <a:ext cx="1874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E7C7B"/>
                </a:solidFill>
              </a:rPr>
              <a:t>10. Discount Impact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4626864" y="4352544"/>
            <a:ext cx="1993392" cy="329184"/>
          </a:xfrm>
          <a:prstGeom prst="rect">
            <a:avLst/>
          </a:prstGeom>
          <a:solidFill>
            <a:srgbClr val="F0FDFA"/>
          </a:solidFill>
          <a:ln w="6350">
            <a:solidFill>
              <a:srgbClr val="0E7C7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700016" y="4352544"/>
            <a:ext cx="1874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E7C7B"/>
                </a:solidFill>
              </a:rPr>
              <a:t>11. Quarterly Revenue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6711696" y="4352544"/>
            <a:ext cx="1993392" cy="329184"/>
          </a:xfrm>
          <a:prstGeom prst="rect">
            <a:avLst/>
          </a:prstGeom>
          <a:solidFill>
            <a:srgbClr val="F0FDFA"/>
          </a:solidFill>
          <a:ln w="6350">
            <a:solidFill>
              <a:srgbClr val="0E7C7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784848" y="4352544"/>
            <a:ext cx="1874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E7C7B"/>
                </a:solidFill>
              </a:rPr>
              <a:t>12. Customer Segments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Shinoy Babru  ·  E-Commerce Sales Analysis  ·  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EDA &amp; Visualisation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949440" y="320040"/>
            <a:ext cx="1371600" cy="292608"/>
          </a:xfrm>
          <a:prstGeom prst="roundRect">
            <a:avLst>
              <a:gd name="adj" fmla="val 25000"/>
            </a:avLst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49440" y="32004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Python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8 charts exported to outputs/ — ready for any report or presentation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01168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88720"/>
            <a:ext cx="2011680" cy="45720"/>
          </a:xfrm>
          <a:prstGeom prst="rect">
            <a:avLst/>
          </a:prstGeom>
          <a:solidFill>
            <a:srgbClr val="4895EF"/>
          </a:solidFill>
          <a:ln w="12700">
            <a:solidFill>
              <a:srgbClr val="4895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29844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895EF"/>
                </a:solidFill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645920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3E"/>
                </a:solidFill>
              </a:rPr>
              <a:t>Monthly Revenue Trend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48640" y="217627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Line chart — peak month analysis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606040" y="1188720"/>
            <a:ext cx="201168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06040" y="1188720"/>
            <a:ext cx="201168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97480" y="129844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697480" y="1645920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3E"/>
                </a:solidFill>
              </a:rPr>
              <a:t>Revenue by Category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697480" y="217627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Bar chart — category comparison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754880" y="1188720"/>
            <a:ext cx="201168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188720"/>
            <a:ext cx="20116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129844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46320" y="1645920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3E"/>
                </a:solidFill>
              </a:rPr>
              <a:t>Top 10 Products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846320" y="217627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Horizontal bar — product ranking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903720" y="1188720"/>
            <a:ext cx="201168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903720" y="1188720"/>
            <a:ext cx="2011680" cy="457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95160" y="129844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</a:rPr>
              <a:t>04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995160" y="1645920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3E"/>
                </a:solidFill>
              </a:rPr>
              <a:t>Order Status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995160" y="217627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Pie chart — delivery rate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57200" y="2926080"/>
            <a:ext cx="201168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2926080"/>
            <a:ext cx="2011680" cy="4572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303580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72B6"/>
                </a:solidFill>
              </a:rPr>
              <a:t>05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48640" y="3383280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3E"/>
                </a:solidFill>
              </a:rPr>
              <a:t>Revenue by State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48640" y="391363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Bar chart — regional performance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606040" y="2926080"/>
            <a:ext cx="201168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606040" y="2926080"/>
            <a:ext cx="201168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697480" y="303580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</a:rPr>
              <a:t>06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2697480" y="3383280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3E"/>
                </a:solidFill>
              </a:rPr>
              <a:t>Payment Methods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697480" y="391363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Bar chart — payment preferences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754880" y="2926080"/>
            <a:ext cx="201168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54880" y="2926080"/>
            <a:ext cx="2011680" cy="457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0" y="303580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</a:rPr>
              <a:t>07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846320" y="3383280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3E"/>
                </a:solidFill>
              </a:rPr>
              <a:t>Quantity vs Revenue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846320" y="391363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Scatter — category segmentation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903720" y="2926080"/>
            <a:ext cx="201168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903720" y="2926080"/>
            <a:ext cx="2011680" cy="45720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95160" y="303580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4CC16"/>
                </a:solidFill>
              </a:rPr>
              <a:t>08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995160" y="3383280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3E"/>
                </a:solidFill>
              </a:rPr>
              <a:t>Orders by Day of Week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995160" y="391363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Bar chart — weekly patterns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Shinoy Babru  ·  E-Commerce Sales Analysis  ·  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Business Insights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D8F5"/>
                </a:solidFill>
              </a:rPr>
              <a:t>What the data reveals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92024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1920240" cy="54864"/>
          </a:xfrm>
          <a:prstGeom prst="rect">
            <a:avLst/>
          </a:prstGeom>
          <a:solidFill>
            <a:srgbClr val="4895EF"/>
          </a:solidFill>
          <a:ln w="12700">
            <a:solidFill>
              <a:srgbClr val="489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344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1B3E"/>
                </a:solidFill>
              </a:rPr>
              <a:t>₹2.86Cr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847088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Total revenue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2023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0" y="1097280"/>
            <a:ext cx="192024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0" y="1097280"/>
            <a:ext cx="192024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12344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1B3E"/>
                </a:solidFill>
              </a:rPr>
              <a:t>1,000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560320" y="1847088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Total orders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processed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1097280"/>
            <a:ext cx="192024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097280"/>
            <a:ext cx="19202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12344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1B3E"/>
                </a:solidFill>
              </a:rPr>
              <a:t>368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663440" y="1847088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Unique customers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served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66560" y="1097280"/>
            <a:ext cx="192024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66560" y="1097280"/>
            <a:ext cx="192024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0" y="12344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1B3E"/>
                </a:solidFill>
              </a:rPr>
              <a:t>4 days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766560" y="1847088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Avg shipping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time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2542032"/>
            <a:ext cx="8229600" cy="384048"/>
          </a:xfrm>
          <a:prstGeom prst="rect">
            <a:avLst/>
          </a:prstGeom>
          <a:solidFill>
            <a:srgbClr val="0F2552"/>
          </a:solidFill>
          <a:ln w="12700">
            <a:solidFill>
              <a:srgbClr val="0F255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2560320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⚡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05840" y="256032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Electronics dominates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840480" y="256032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8F5"/>
                </a:solidFill>
              </a:rPr>
              <a:t>₹2.04Cr revenue — 71% of total. Next category (Home &amp; Kitchen) is ₹36L — a huge gap.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2971800"/>
            <a:ext cx="8229600" cy="384048"/>
          </a:xfrm>
          <a:prstGeom prst="rect">
            <a:avLst/>
          </a:prstGeom>
          <a:solidFill>
            <a:srgbClr val="0A2040"/>
          </a:solidFill>
          <a:ln w="12700">
            <a:solidFill>
              <a:srgbClr val="0A204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2990088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📅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05840" y="299008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March is peak month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840480" y="2990088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8F5"/>
                </a:solidFill>
              </a:rPr>
              <a:t>Highest revenue month of the year. Q1 overall is the strongest quarter.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401568"/>
            <a:ext cx="8229600" cy="384048"/>
          </a:xfrm>
          <a:prstGeom prst="rect">
            <a:avLst/>
          </a:prstGeom>
          <a:solidFill>
            <a:srgbClr val="0F2552"/>
          </a:solidFill>
          <a:ln w="12700">
            <a:solidFill>
              <a:srgbClr val="0F255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3419856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05840" y="341985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63.4% delivery rate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840480" y="3419856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8F5"/>
                </a:solidFill>
              </a:rPr>
              <a:t>10.1% cancellation rate — 101 orders. Reducing this could add significant revenue.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3831336"/>
            <a:ext cx="8229600" cy="384048"/>
          </a:xfrm>
          <a:prstGeom prst="rect">
            <a:avLst/>
          </a:prstGeom>
          <a:solidFill>
            <a:srgbClr val="0A2040"/>
          </a:solidFill>
          <a:ln w="12700">
            <a:solidFill>
              <a:srgbClr val="0A204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3849624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💳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005840" y="384962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Credit Card &amp; UPI lead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840480" y="3849624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8F5"/>
                </a:solidFill>
              </a:rPr>
              <a:t>Together account for 50% of payments. Cash on Delivery is the smallest at 12%.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4261104"/>
            <a:ext cx="8229600" cy="384048"/>
          </a:xfrm>
          <a:prstGeom prst="rect">
            <a:avLst/>
          </a:prstGeom>
          <a:solidFill>
            <a:srgbClr val="0F2552"/>
          </a:solidFill>
          <a:ln w="12700">
            <a:solidFill>
              <a:srgbClr val="0F255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4279392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🏆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005840" y="427939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Laptop is #1 product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3840480" y="4279392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8F5"/>
                </a:solidFill>
              </a:rPr>
              <a:t>₹68.7L revenue — highest single product. All top 5 products are Electronics.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7200" y="4690872"/>
            <a:ext cx="8229600" cy="384048"/>
          </a:xfrm>
          <a:prstGeom prst="rect">
            <a:avLst/>
          </a:prstGeom>
          <a:solidFill>
            <a:srgbClr val="0A2040"/>
          </a:solidFill>
          <a:ln w="12700">
            <a:solidFill>
              <a:srgbClr val="0A204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4709160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📍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1005840" y="470916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Maharashtra leads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3840480" y="470916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8F5"/>
                </a:solidFill>
              </a:rPr>
              <a:t>Highest revenue state. Delhi and Karnataka follow — 3 states drive majority of orders.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040880" y="320040"/>
            <a:ext cx="1371600" cy="292608"/>
          </a:xfrm>
          <a:prstGeom prst="roundRect">
            <a:avLst>
              <a:gd name="adj" fmla="val 25000"/>
            </a:avLst>
          </a:prstGeom>
          <a:solidFill>
            <a:srgbClr val="A67C00"/>
          </a:solidFill>
          <a:ln w="12700">
            <a:solidFill>
              <a:srgbClr val="A67C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040880" y="32004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Power BI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5303520" cy="3657600"/>
          </a:xfrm>
          <a:prstGeom prst="rect">
            <a:avLst/>
          </a:prstGeom>
          <a:solidFill>
            <a:srgbClr val="F0F4FF"/>
          </a:solidFill>
          <a:ln w="12700">
            <a:solidFill>
              <a:srgbClr val="C3CD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5303520" cy="3200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94183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🛒  E-Commerce Sales Dashboard — 2023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48640" y="1325880"/>
            <a:ext cx="11887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37160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₹2.86Cr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47088" y="1325880"/>
            <a:ext cx="11887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47088" y="137160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1,000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45536" y="1325880"/>
            <a:ext cx="11887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45536" y="137160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368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43984" y="1325880"/>
            <a:ext cx="11887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43984" y="137160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10.1%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1920240"/>
            <a:ext cx="320040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1965960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Monthly Revenue Trend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85800" y="2603754"/>
            <a:ext cx="128016" cy="349758"/>
          </a:xfrm>
          <a:prstGeom prst="rect">
            <a:avLst/>
          </a:prstGeom>
          <a:solidFill>
            <a:srgbClr val="4895EF"/>
          </a:solidFill>
          <a:ln w="12700">
            <a:solidFill>
              <a:srgbClr val="4895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28116" y="2526030"/>
            <a:ext cx="128016" cy="427482"/>
          </a:xfrm>
          <a:prstGeom prst="rect">
            <a:avLst/>
          </a:prstGeom>
          <a:solidFill>
            <a:srgbClr val="4895EF"/>
          </a:solidFill>
          <a:ln w="12700">
            <a:solidFill>
              <a:srgbClr val="4895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70432" y="2292858"/>
            <a:ext cx="128016" cy="660654"/>
          </a:xfrm>
          <a:prstGeom prst="rect">
            <a:avLst/>
          </a:prstGeom>
          <a:solidFill>
            <a:srgbClr val="4895EF"/>
          </a:solidFill>
          <a:ln w="12700">
            <a:solidFill>
              <a:srgbClr val="4895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412748" y="2564892"/>
            <a:ext cx="128016" cy="388620"/>
          </a:xfrm>
          <a:prstGeom prst="rect">
            <a:avLst/>
          </a:prstGeom>
          <a:solidFill>
            <a:srgbClr val="4895EF"/>
          </a:solidFill>
          <a:ln w="12700">
            <a:solidFill>
              <a:srgbClr val="4895E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55064" y="2487168"/>
            <a:ext cx="128016" cy="466344"/>
          </a:xfrm>
          <a:prstGeom prst="rect">
            <a:avLst/>
          </a:prstGeom>
          <a:solidFill>
            <a:srgbClr val="4895EF"/>
          </a:solidFill>
          <a:ln w="12700">
            <a:solidFill>
              <a:srgbClr val="4895E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97380" y="2526030"/>
            <a:ext cx="128016" cy="427482"/>
          </a:xfrm>
          <a:prstGeom prst="rect">
            <a:avLst/>
          </a:prstGeom>
          <a:solidFill>
            <a:srgbClr val="4895EF"/>
          </a:solidFill>
          <a:ln w="12700">
            <a:solidFill>
              <a:srgbClr val="4895E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139696" y="2549347"/>
            <a:ext cx="128016" cy="404165"/>
          </a:xfrm>
          <a:prstGeom prst="rect">
            <a:avLst/>
          </a:prstGeom>
          <a:solidFill>
            <a:srgbClr val="4895EF"/>
          </a:solidFill>
          <a:ln w="12700">
            <a:solidFill>
              <a:srgbClr val="4895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82012" y="2502713"/>
            <a:ext cx="128016" cy="450799"/>
          </a:xfrm>
          <a:prstGeom prst="rect">
            <a:avLst/>
          </a:prstGeom>
          <a:solidFill>
            <a:srgbClr val="4895EF"/>
          </a:solidFill>
          <a:ln w="12700">
            <a:solidFill>
              <a:srgbClr val="4895E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624328" y="2564892"/>
            <a:ext cx="128016" cy="388620"/>
          </a:xfrm>
          <a:prstGeom prst="rect">
            <a:avLst/>
          </a:prstGeom>
          <a:solidFill>
            <a:srgbClr val="4895EF"/>
          </a:solidFill>
          <a:ln w="12700">
            <a:solidFill>
              <a:srgbClr val="4895E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866644" y="2518258"/>
            <a:ext cx="128016" cy="435254"/>
          </a:xfrm>
          <a:prstGeom prst="rect">
            <a:avLst/>
          </a:prstGeom>
          <a:solidFill>
            <a:srgbClr val="4895EF"/>
          </a:solidFill>
          <a:ln w="12700">
            <a:solidFill>
              <a:srgbClr val="4895E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108960" y="2471623"/>
            <a:ext cx="128016" cy="481889"/>
          </a:xfrm>
          <a:prstGeom prst="rect">
            <a:avLst/>
          </a:prstGeom>
          <a:solidFill>
            <a:srgbClr val="4895EF"/>
          </a:solidFill>
          <a:ln w="12700">
            <a:solidFill>
              <a:srgbClr val="4895E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51276" y="2533802"/>
            <a:ext cx="128016" cy="419710"/>
          </a:xfrm>
          <a:prstGeom prst="rect">
            <a:avLst/>
          </a:prstGeom>
          <a:solidFill>
            <a:srgbClr val="4895EF"/>
          </a:solidFill>
          <a:ln w="12700">
            <a:solidFill>
              <a:srgbClr val="4895E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40480" y="1920240"/>
            <a:ext cx="182880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931920" y="196596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Category Revenue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3931920" y="2231136"/>
            <a:ext cx="1207008" cy="128016"/>
          </a:xfrm>
          <a:prstGeom prst="rect">
            <a:avLst/>
          </a:prstGeom>
          <a:solidFill>
            <a:srgbClr val="4895EF"/>
          </a:solidFill>
          <a:ln w="12700">
            <a:solidFill>
              <a:srgbClr val="4895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931920" y="2231136"/>
            <a:ext cx="16459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44444"/>
                </a:solidFill>
              </a:rPr>
              <a:t>Electronics 71%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3931920" y="2395728"/>
            <a:ext cx="219456" cy="12801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931920" y="2395728"/>
            <a:ext cx="16459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44444"/>
                </a:solidFill>
              </a:rPr>
              <a:t>Home &amp; Kitchen 13%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3931920" y="2560320"/>
            <a:ext cx="137160" cy="12801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931920" y="2560320"/>
            <a:ext cx="16459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44444"/>
                </a:solidFill>
              </a:rPr>
              <a:t>Clothing 8%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3931920" y="2724912"/>
            <a:ext cx="109728" cy="12801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931920" y="2724912"/>
            <a:ext cx="16459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44444"/>
                </a:solidFill>
              </a:rPr>
              <a:t>Sports 7%</a:t>
            </a:r>
            <a:endParaRPr lang="en-US" sz="650" dirty="0"/>
          </a:p>
        </p:txBody>
      </p:sp>
      <p:sp>
        <p:nvSpPr>
          <p:cNvPr id="40" name="Shape 38"/>
          <p:cNvSpPr/>
          <p:nvPr/>
        </p:nvSpPr>
        <p:spPr>
          <a:xfrm>
            <a:off x="3931920" y="2889504"/>
            <a:ext cx="27432" cy="128016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31920" y="2889504"/>
            <a:ext cx="16459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44444"/>
                </a:solidFill>
              </a:rPr>
              <a:t>Books 1%</a:t>
            </a:r>
            <a:endParaRPr lang="en-US" sz="650" dirty="0"/>
          </a:p>
        </p:txBody>
      </p:sp>
      <p:sp>
        <p:nvSpPr>
          <p:cNvPr id="42" name="Shape 40"/>
          <p:cNvSpPr/>
          <p:nvPr/>
        </p:nvSpPr>
        <p:spPr>
          <a:xfrm>
            <a:off x="548640" y="3154680"/>
            <a:ext cx="16459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8640" y="31546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</a:rPr>
              <a:t>63% Delivered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286000" y="3154680"/>
            <a:ext cx="16459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286000" y="31546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</a:rPr>
              <a:t>10% Cancelled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931920" y="3154680"/>
            <a:ext cx="17373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931920" y="315468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4 Day Avg Ship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48640" y="3657600"/>
            <a:ext cx="5120640" cy="3200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0080" y="367588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895EF"/>
                </a:solidFill>
              </a:rPr>
              <a:t>Executive Summary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2377440" y="367588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9D8F5"/>
                </a:solidFill>
              </a:rPr>
              <a:t>Products &amp; Categories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4114800" y="367588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9D8F5"/>
                </a:solidFill>
              </a:rPr>
              <a:t>Customer &amp; Region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5989320" y="9144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Dashboard features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5989320" y="1389888"/>
            <a:ext cx="29260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5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6080760" y="146304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📄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6537960" y="144475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3E"/>
                </a:solidFill>
              </a:rPr>
              <a:t>3 report pages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6537960" y="170078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Executive · Products · Regional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989320" y="2139696"/>
            <a:ext cx="29260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5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6080760" y="2212848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🔽</a:t>
            </a:r>
            <a:endParaRPr lang="en-US" sz="1800" dirty="0"/>
          </a:p>
        </p:txBody>
      </p:sp>
      <p:sp>
        <p:nvSpPr>
          <p:cNvPr id="59" name="Text 57"/>
          <p:cNvSpPr/>
          <p:nvPr/>
        </p:nvSpPr>
        <p:spPr>
          <a:xfrm>
            <a:off x="6537960" y="21945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3E"/>
                </a:solidFill>
              </a:rPr>
              <a:t>4 interactive slicers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6537960" y="245059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Category · Status · State · Month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5989320" y="2889504"/>
            <a:ext cx="29260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5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6080760" y="2962656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📐</a:t>
            </a:r>
            <a:endParaRPr lang="en-US" sz="1800" dirty="0"/>
          </a:p>
        </p:txBody>
      </p:sp>
      <p:sp>
        <p:nvSpPr>
          <p:cNvPr id="63" name="Text 61"/>
          <p:cNvSpPr/>
          <p:nvPr/>
        </p:nvSpPr>
        <p:spPr>
          <a:xfrm>
            <a:off x="6537960" y="294436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3E"/>
                </a:solidFill>
              </a:rPr>
              <a:t>DAX measures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6537960" y="32004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Revenue · AOV · Cancel rate · LTV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5989320" y="3639312"/>
            <a:ext cx="29260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5000"/>
              </a:srgbClr>
            </a:outerShdw>
          </a:effectLst>
        </p:spPr>
      </p:sp>
      <p:sp>
        <p:nvSpPr>
          <p:cNvPr id="66" name="Text 64"/>
          <p:cNvSpPr/>
          <p:nvPr/>
        </p:nvSpPr>
        <p:spPr>
          <a:xfrm>
            <a:off x="6080760" y="3712464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67" name="Text 65"/>
          <p:cNvSpPr/>
          <p:nvPr/>
        </p:nvSpPr>
        <p:spPr>
          <a:xfrm>
            <a:off x="6537960" y="369417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3E"/>
                </a:solidFill>
              </a:rPr>
              <a:t>Browser version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6537960" y="395020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HTML dashboard — no install needed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Shinoy Babru  ·  E-Commerce Sales Analysis  ·  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Demonstrated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5895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What this project proves to an employer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4160520" cy="1874520"/>
          </a:xfrm>
          <a:prstGeom prst="rect">
            <a:avLst/>
          </a:prstGeom>
          <a:solidFill>
            <a:srgbClr val="EBF5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43000"/>
            <a:ext cx="4160520" cy="6400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5272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6B"/>
                </a:solidFill>
              </a:rPr>
              <a:t>Python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6002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</a:rPr>
              <a:t>Data generation with NumPy &amp; random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94360" y="18745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</a:rPr>
              <a:t>Data cleaning with Pandas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94360" y="21488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</a:rPr>
              <a:t>Feature engineering (month, quarter, shipping days)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242316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</a:rPr>
              <a:t>Data visualisation with Matplotlib &amp; Seaborn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94360" y="26974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</a:rPr>
              <a:t>Exporting publication-quality charts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846320" y="1143000"/>
            <a:ext cx="4160520" cy="1874520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46320" y="1143000"/>
            <a:ext cx="4160520" cy="6400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83480" y="125272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7B"/>
                </a:solidFill>
              </a:rPr>
              <a:t>SQL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83480" y="16002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</a:rPr>
              <a:t>Designing normalised schemas (3NF)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983480" y="18745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</a:rPr>
              <a:t>Loading CSVs into a relational database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983480" y="21488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</a:rPr>
              <a:t>Writing JOIN queries across 3 tables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983480" y="242316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</a:rPr>
              <a:t>GROUP BY, SUM, COUNT aggregations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983480" y="26974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</a:rPr>
              <a:t>Window functions (OVER, PARTITION BY)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3154680"/>
            <a:ext cx="4160520" cy="1874520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154680"/>
            <a:ext cx="416052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26440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</a:rPr>
              <a:t>Power BI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94360" y="36118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</a:rPr>
              <a:t>Connecting to external data sources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94360" y="38862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</a:rPr>
              <a:t>Writing DAX measures for dynamic KPIs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94360" y="41605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</a:rPr>
              <a:t>Building multi-page dashboards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94360" y="44348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</a:rPr>
              <a:t>Adding slicers for cross-filtering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94360" y="470916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</a:rPr>
              <a:t>Sharing interactive reports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846320" y="3154680"/>
            <a:ext cx="4160520" cy="1874520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46320" y="3154680"/>
            <a:ext cx="416052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83480" y="326440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</a:rPr>
              <a:t>Analyst mindset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983480" y="36118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</a:rPr>
              <a:t>Framing business questions before coding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983480" y="38862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</a:rPr>
              <a:t>Identifying actionable insights from data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983480" y="41605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</a:rPr>
              <a:t>Communicating findings clearly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983480" y="44348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</a:rPr>
              <a:t>Recommending data-driven decisions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983480" y="470916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</a:rPr>
              <a:t>End-to-end project ownership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Shinoy Babru  ·  E-Commerce Sales Analysis  ·  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895EF"/>
          </a:solidFill>
          <a:ln w="12700">
            <a:solidFill>
              <a:srgbClr val="4895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138988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9D8F5"/>
                </a:solidFill>
              </a:rPr>
              <a:t>Let's connect and talk data.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8229600" cy="548640"/>
          </a:xfrm>
          <a:prstGeom prst="rect">
            <a:avLst/>
          </a:prstGeom>
          <a:solidFill>
            <a:srgbClr val="122456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157984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👤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2157984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895EF"/>
                </a:solidFill>
              </a:rPr>
              <a:t>Name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606040" y="2157984"/>
            <a:ext cx="5943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Shinoy Babru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761488"/>
            <a:ext cx="8229600" cy="548640"/>
          </a:xfrm>
          <a:prstGeom prst="rect">
            <a:avLst/>
          </a:prstGeom>
          <a:solidFill>
            <a:srgbClr val="122456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816352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💼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43000" y="2816352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895EF"/>
                </a:solidFill>
              </a:rPr>
              <a:t>LinkedIn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606040" y="2816352"/>
            <a:ext cx="5943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linkedin.com/in/shinoy-babru-2000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19856"/>
            <a:ext cx="8229600" cy="548640"/>
          </a:xfrm>
          <a:prstGeom prst="rect">
            <a:avLst/>
          </a:prstGeom>
          <a:solidFill>
            <a:srgbClr val="122456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474720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💻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43000" y="3474720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895EF"/>
                </a:solidFill>
              </a:rPr>
              <a:t>Project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606040" y="3474720"/>
            <a:ext cx="5943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github.com/shinoybabru/ecommerce-sales-analysis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078224"/>
            <a:ext cx="8229600" cy="548640"/>
          </a:xfrm>
          <a:prstGeom prst="rect">
            <a:avLst/>
          </a:prstGeom>
          <a:solidFill>
            <a:srgbClr val="122456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4133088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🛠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43000" y="4133088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895EF"/>
                </a:solidFill>
              </a:rPr>
              <a:t>Tools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606040" y="4133088"/>
            <a:ext cx="5943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Python  ·  SQL  ·  Power BI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B4A8A"/>
                </a:solidFill>
              </a:rPr>
              <a:t>E-Commerce Sales Analysis  ·  Portfolio Project 2023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E-Commerce Sales Analysis</dc:title>
  <dc:subject>Data Analyst Portfolio Project</dc:subject>
  <dc:creator>Shinoy Babru</dc:creator>
  <cp:lastModifiedBy>Shinoy Babru</cp:lastModifiedBy>
  <cp:revision>1</cp:revision>
  <dcterms:created xsi:type="dcterms:W3CDTF">2026-05-04T08:17:46Z</dcterms:created>
  <dcterms:modified xsi:type="dcterms:W3CDTF">2026-05-04T08:17:46Z</dcterms:modified>
</cp:coreProperties>
</file>